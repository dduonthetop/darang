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3" r:id="rId3"/>
    <p:sldId id="260" r:id="rId4"/>
    <p:sldId id="258" r:id="rId5"/>
    <p:sldId id="259" r:id="rId6"/>
    <p:sldId id="262" r:id="rId7"/>
    <p:sldId id="261" r:id="rId8"/>
    <p:sldId id="264" r:id="rId9"/>
    <p:sldId id="265" r:id="rId10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0" d="100"/>
          <a:sy n="60" d="100"/>
        </p:scale>
        <p:origin x="2772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34B-13EA-4BFF-8569-1C49BFB9CA67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D85FE-95F9-4BB1-8E93-AEDC2EB8D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325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34B-13EA-4BFF-8569-1C49BFB9CA67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D85FE-95F9-4BB1-8E93-AEDC2EB8D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3448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34B-13EA-4BFF-8569-1C49BFB9CA67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D85FE-95F9-4BB1-8E93-AEDC2EB8D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447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34B-13EA-4BFF-8569-1C49BFB9CA67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D85FE-95F9-4BB1-8E93-AEDC2EB8D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5177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34B-13EA-4BFF-8569-1C49BFB9CA67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D85FE-95F9-4BB1-8E93-AEDC2EB8D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6983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34B-13EA-4BFF-8569-1C49BFB9CA67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D85FE-95F9-4BB1-8E93-AEDC2EB8D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883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34B-13EA-4BFF-8569-1C49BFB9CA67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D85FE-95F9-4BB1-8E93-AEDC2EB8D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1691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34B-13EA-4BFF-8569-1C49BFB9CA67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D85FE-95F9-4BB1-8E93-AEDC2EB8D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708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34B-13EA-4BFF-8569-1C49BFB9CA67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D85FE-95F9-4BB1-8E93-AEDC2EB8D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986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34B-13EA-4BFF-8569-1C49BFB9CA67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D85FE-95F9-4BB1-8E93-AEDC2EB8D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546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9534B-13EA-4BFF-8569-1C49BFB9CA67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D85FE-95F9-4BB1-8E93-AEDC2EB8D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1536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9534B-13EA-4BFF-8569-1C49BFB9CA67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7D85FE-95F9-4BB1-8E93-AEDC2EB8D3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533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buyer.nicedocu.com/web/buyer/main/index.jsp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ms.iparkmall.co.kr/login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4930" y="287463"/>
            <a:ext cx="4187378" cy="319101"/>
          </a:xfrm>
        </p:spPr>
        <p:txBody>
          <a:bodyPr anchor="ctr">
            <a:noAutofit/>
          </a:bodyPr>
          <a:lstStyle/>
          <a:p>
            <a:pPr algn="l"/>
            <a:r>
              <a:rPr lang="en-US" altLang="ko-KR" sz="24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&lt;</a:t>
            </a:r>
            <a:r>
              <a:rPr lang="ko-KR" altLang="en-US" sz="24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브랜드 신규 입점 프로세</a:t>
            </a:r>
            <a:r>
              <a:rPr lang="ko-KR" altLang="en-US" sz="2400" dirty="0">
                <a:latin typeface="Rix헤드 M" panose="02020603020101020101" pitchFamily="18" charset="-127"/>
                <a:ea typeface="Rix헤드 M" panose="02020603020101020101" pitchFamily="18" charset="-127"/>
              </a:rPr>
              <a:t>스</a:t>
            </a:r>
            <a:r>
              <a:rPr lang="en-US" altLang="ko-KR" sz="24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&gt;</a:t>
            </a:r>
            <a:endParaRPr lang="ko-KR" altLang="en-US" sz="2400" dirty="0">
              <a:latin typeface="Rix헤드 M" panose="02020603020101020101" pitchFamily="18" charset="-127"/>
              <a:ea typeface="Rix헤드 M" panose="02020603020101020101" pitchFamily="18" charset="-127"/>
            </a:endParaRPr>
          </a:p>
        </p:txBody>
      </p:sp>
      <p:sp>
        <p:nvSpPr>
          <p:cNvPr id="4" name="부제목 2"/>
          <p:cNvSpPr txBox="1">
            <a:spLocks/>
          </p:cNvSpPr>
          <p:nvPr/>
        </p:nvSpPr>
        <p:spPr>
          <a:xfrm>
            <a:off x="541922" y="3393354"/>
            <a:ext cx="5422150" cy="119079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② </a:t>
            </a:r>
            <a:r>
              <a:rPr lang="ko-KR" altLang="en-US" sz="2000" dirty="0" err="1" smtClean="0">
                <a:latin typeface="Rix헤드 M" panose="02020603020101020101" pitchFamily="18" charset="-127"/>
                <a:ea typeface="Rix헤드 M" panose="02020603020101020101" pitchFamily="18" charset="-127"/>
              </a:rPr>
              <a:t>전자계약</a:t>
            </a:r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 체결 </a:t>
            </a:r>
            <a:endParaRPr lang="ko-KR" altLang="en-US" sz="2000" dirty="0">
              <a:latin typeface="Rix헤드 M" panose="02020603020101020101" pitchFamily="18" charset="-127"/>
              <a:ea typeface="Rix헤드 M" panose="02020603020101020101" pitchFamily="18" charset="-127"/>
            </a:endParaRPr>
          </a:p>
        </p:txBody>
      </p:sp>
      <p:sp>
        <p:nvSpPr>
          <p:cNvPr id="5" name="부제목 2"/>
          <p:cNvSpPr txBox="1">
            <a:spLocks/>
          </p:cNvSpPr>
          <p:nvPr/>
        </p:nvSpPr>
        <p:spPr>
          <a:xfrm>
            <a:off x="395618" y="818539"/>
            <a:ext cx="2931952" cy="319101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- </a:t>
            </a:r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매장 오픈 전</a:t>
            </a:r>
            <a:endParaRPr lang="ko-KR" altLang="en-US" sz="2000" dirty="0">
              <a:latin typeface="Rix헤드 M" panose="02020603020101020101" pitchFamily="18" charset="-127"/>
              <a:ea typeface="Rix헤드 M" panose="02020603020101020101" pitchFamily="18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95618" y="3724408"/>
            <a:ext cx="6326414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&lt;</a:t>
            </a:r>
            <a:r>
              <a:rPr lang="ko-KR" altLang="en-US" sz="1600" dirty="0" err="1" smtClean="0">
                <a:latin typeface="Rix헤드 M" panose="02020603020101020101" pitchFamily="18" charset="-127"/>
                <a:ea typeface="Rix헤드 M" panose="02020603020101020101" pitchFamily="18" charset="-127"/>
              </a:rPr>
              <a:t>나이스다큐</a:t>
            </a:r>
            <a:r>
              <a:rPr lang="ko-KR" altLang="en-US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 </a:t>
            </a:r>
            <a:r>
              <a:rPr lang="en-US" altLang="ko-KR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(</a:t>
            </a:r>
            <a:r>
              <a:rPr lang="ko-KR" altLang="en-US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계약체결사이트</a:t>
            </a:r>
            <a:r>
              <a:rPr lang="en-US" altLang="ko-KR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)&gt;</a:t>
            </a:r>
          </a:p>
          <a:p>
            <a:r>
              <a:rPr lang="en-US" altLang="ko-KR" sz="1600" dirty="0" smtClean="0">
                <a:latin typeface="Rix헤드 M" panose="02020603020101020101" pitchFamily="18" charset="-127"/>
                <a:ea typeface="Rix헤드 M" panose="02020603020101020101" pitchFamily="18" charset="-127"/>
                <a:hlinkClick r:id="rId2"/>
              </a:rPr>
              <a:t>https://buyer.nicedocu.com/web/buyer/main/index.jsp</a:t>
            </a:r>
            <a:endParaRPr lang="en-US" altLang="ko-KR" sz="1600" dirty="0" smtClean="0">
              <a:latin typeface="Rix헤드 M" panose="02020603020101020101" pitchFamily="18" charset="-127"/>
              <a:ea typeface="Rix헤드 M" panose="02020603020101020101" pitchFamily="18" charset="-127"/>
            </a:endParaRPr>
          </a:p>
          <a:p>
            <a:endParaRPr lang="en-US" altLang="ko-KR" sz="1600" dirty="0">
              <a:latin typeface="Rix헤드 M" panose="02020603020101020101" pitchFamily="18" charset="-127"/>
              <a:ea typeface="Rix헤드 M" panose="02020603020101020101" pitchFamily="18" charset="-127"/>
            </a:endParaRPr>
          </a:p>
          <a:p>
            <a:r>
              <a:rPr lang="ko-KR" altLang="en-US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회원가입 후 계약 관리 페이지에서 전자서명 진행</a:t>
            </a:r>
            <a:endParaRPr lang="en-US" altLang="ko-KR" sz="1600" dirty="0" smtClean="0">
              <a:latin typeface="Rix헤드 M" panose="02020603020101020101" pitchFamily="18" charset="-127"/>
              <a:ea typeface="Rix헤드 M" panose="02020603020101020101" pitchFamily="18" charset="-127"/>
            </a:endParaRPr>
          </a:p>
          <a:p>
            <a:endParaRPr lang="en-US" altLang="ko-KR" sz="1600" dirty="0">
              <a:latin typeface="Rix헤드 M" panose="02020603020101020101" pitchFamily="18" charset="-127"/>
              <a:ea typeface="Rix헤드 M" panose="02020603020101020101" pitchFamily="18" charset="-127"/>
            </a:endParaRPr>
          </a:p>
          <a:p>
            <a:r>
              <a:rPr lang="ko-KR" altLang="en-US" sz="1600" dirty="0" err="1" smtClean="0">
                <a:latin typeface="Rix헤드 M" panose="02020603020101020101" pitchFamily="18" charset="-127"/>
                <a:ea typeface="Rix헤드 M" panose="02020603020101020101" pitchFamily="18" charset="-127"/>
              </a:rPr>
              <a:t>필수서류</a:t>
            </a:r>
            <a:r>
              <a:rPr lang="ko-KR" altLang="en-US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 </a:t>
            </a:r>
            <a:r>
              <a:rPr lang="en-US" altLang="ko-KR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(</a:t>
            </a:r>
            <a:r>
              <a:rPr lang="ko-KR" altLang="en-US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사이트 업로드</a:t>
            </a:r>
            <a:r>
              <a:rPr lang="en-US" altLang="ko-KR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): </a:t>
            </a:r>
          </a:p>
          <a:p>
            <a:endParaRPr lang="ko-KR" altLang="en-US" sz="1600" dirty="0" smtClean="0">
              <a:latin typeface="Rix헤드 M" panose="02020603020101020101" pitchFamily="18" charset="-127"/>
              <a:ea typeface="Rix헤드 M" panose="02020603020101020101" pitchFamily="18" charset="-127"/>
            </a:endParaRPr>
          </a:p>
          <a:p>
            <a:r>
              <a:rPr lang="ko-KR" altLang="en-US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 </a:t>
            </a:r>
            <a:r>
              <a:rPr lang="en-US" altLang="ko-KR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- </a:t>
            </a:r>
            <a:r>
              <a:rPr lang="ko-KR" altLang="en-US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입점</a:t>
            </a:r>
            <a:r>
              <a:rPr lang="en-US" altLang="ko-KR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/</a:t>
            </a:r>
            <a:r>
              <a:rPr lang="ko-KR" altLang="en-US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파견사원 공문 </a:t>
            </a:r>
            <a:r>
              <a:rPr lang="en-US" altLang="ko-KR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(</a:t>
            </a:r>
            <a:r>
              <a:rPr lang="ko-KR" altLang="en-US" sz="1600" dirty="0" err="1" smtClean="0">
                <a:latin typeface="Rix헤드 M" panose="02020603020101020101" pitchFamily="18" charset="-127"/>
                <a:ea typeface="Rix헤드 M" panose="02020603020101020101" pitchFamily="18" charset="-127"/>
              </a:rPr>
              <a:t>뒷페이지</a:t>
            </a:r>
            <a:r>
              <a:rPr lang="ko-KR" altLang="en-US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 양식 첨부</a:t>
            </a:r>
            <a:r>
              <a:rPr lang="en-US" altLang="ko-KR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)</a:t>
            </a:r>
            <a:endParaRPr lang="ko-KR" altLang="en-US" sz="1600" dirty="0" smtClean="0">
              <a:latin typeface="Rix헤드 M" panose="02020603020101020101" pitchFamily="18" charset="-127"/>
              <a:ea typeface="Rix헤드 M" panose="02020603020101020101" pitchFamily="18" charset="-127"/>
            </a:endParaRPr>
          </a:p>
          <a:p>
            <a:endParaRPr lang="ko-KR" altLang="en-US" sz="1600" dirty="0" smtClean="0">
              <a:latin typeface="Rix헤드 M" panose="02020603020101020101" pitchFamily="18" charset="-127"/>
              <a:ea typeface="Rix헤드 M" panose="02020603020101020101" pitchFamily="18" charset="-127"/>
            </a:endParaRPr>
          </a:p>
          <a:p>
            <a:r>
              <a:rPr lang="ko-KR" altLang="en-US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  </a:t>
            </a:r>
            <a:r>
              <a:rPr lang="en-US" altLang="ko-KR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- </a:t>
            </a:r>
            <a:r>
              <a:rPr lang="ko-KR" altLang="en-US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사업자등록증</a:t>
            </a:r>
          </a:p>
          <a:p>
            <a:endParaRPr lang="ko-KR" altLang="en-US" sz="1600" dirty="0" smtClean="0">
              <a:latin typeface="Rix헤드 M" panose="02020603020101020101" pitchFamily="18" charset="-127"/>
              <a:ea typeface="Rix헤드 M" panose="02020603020101020101" pitchFamily="18" charset="-127"/>
            </a:endParaRPr>
          </a:p>
          <a:p>
            <a:r>
              <a:rPr lang="ko-KR" altLang="en-US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  </a:t>
            </a:r>
            <a:r>
              <a:rPr lang="en-US" altLang="ko-KR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- </a:t>
            </a:r>
            <a:r>
              <a:rPr lang="ko-KR" altLang="en-US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사업자등기부등본 </a:t>
            </a:r>
            <a:r>
              <a:rPr lang="en-US" altLang="ko-KR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(</a:t>
            </a:r>
            <a:r>
              <a:rPr lang="ko-KR" altLang="en-US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개인사업자 </a:t>
            </a:r>
            <a:r>
              <a:rPr lang="en-US" altLang="ko-KR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: </a:t>
            </a:r>
            <a:r>
              <a:rPr lang="ko-KR" altLang="en-US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주민등록등본</a:t>
            </a:r>
            <a:r>
              <a:rPr lang="en-US" altLang="ko-KR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)</a:t>
            </a:r>
          </a:p>
          <a:p>
            <a:endParaRPr lang="en-US" altLang="ko-KR" sz="1600" dirty="0" smtClean="0">
              <a:latin typeface="Rix헤드 M" panose="02020603020101020101" pitchFamily="18" charset="-127"/>
              <a:ea typeface="Rix헤드 M" panose="02020603020101020101" pitchFamily="18" charset="-127"/>
            </a:endParaRPr>
          </a:p>
          <a:p>
            <a:r>
              <a:rPr lang="en-US" altLang="ko-KR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  - </a:t>
            </a:r>
            <a:r>
              <a:rPr lang="ko-KR" altLang="en-US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대금입금계좌</a:t>
            </a:r>
            <a:endParaRPr lang="en-US" altLang="ko-KR" sz="1600" dirty="0" smtClean="0">
              <a:latin typeface="Rix헤드 M" panose="02020603020101020101" pitchFamily="18" charset="-127"/>
              <a:ea typeface="Rix헤드 M" panose="02020603020101020101" pitchFamily="18" charset="-127"/>
            </a:endParaRPr>
          </a:p>
          <a:p>
            <a:endParaRPr lang="en-US" altLang="ko-KR" sz="1600" dirty="0" smtClean="0">
              <a:latin typeface="Rix헤드 M" panose="02020603020101020101" pitchFamily="18" charset="-127"/>
              <a:ea typeface="Rix헤드 M" panose="02020603020101020101" pitchFamily="18" charset="-127"/>
            </a:endParaRPr>
          </a:p>
          <a:p>
            <a:endParaRPr lang="en-US" altLang="ko-KR" sz="1600" dirty="0">
              <a:latin typeface="Rix헤드 M" panose="02020603020101020101" pitchFamily="18" charset="-127"/>
              <a:ea typeface="Rix헤드 M" panose="02020603020101020101" pitchFamily="18" charset="-127"/>
            </a:endParaRPr>
          </a:p>
          <a:p>
            <a:r>
              <a:rPr lang="ko-KR" altLang="en-US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 </a:t>
            </a:r>
            <a:endParaRPr lang="en-US" altLang="ko-KR" sz="1600" dirty="0" smtClean="0">
              <a:latin typeface="Rix헤드 M" panose="02020603020101020101" pitchFamily="18" charset="-127"/>
              <a:ea typeface="Rix헤드 M" panose="02020603020101020101" pitchFamily="18" charset="-127"/>
            </a:endParaRPr>
          </a:p>
          <a:p>
            <a:endParaRPr lang="en-US" altLang="ko-KR" sz="1600" dirty="0">
              <a:latin typeface="Rix헤드 M" panose="02020603020101020101" pitchFamily="18" charset="-127"/>
              <a:ea typeface="Rix헤드 M" panose="02020603020101020101" pitchFamily="18" charset="-127"/>
            </a:endParaRPr>
          </a:p>
          <a:p>
            <a:r>
              <a:rPr lang="en-US" altLang="ko-KR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  - </a:t>
            </a:r>
            <a:r>
              <a:rPr lang="ko-KR" altLang="en-US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당사 마감 관련 세금계산서 사이트 사전 가입</a:t>
            </a:r>
            <a:endParaRPr lang="ko-KR" altLang="en-US" sz="1600" dirty="0">
              <a:latin typeface="Rix헤드 M" panose="02020603020101020101" pitchFamily="18" charset="-127"/>
              <a:ea typeface="Rix헤드 M" panose="02020603020101020101" pitchFamily="18" charset="-127"/>
            </a:endParaRPr>
          </a:p>
        </p:txBody>
      </p:sp>
      <p:sp>
        <p:nvSpPr>
          <p:cNvPr id="13" name="부제목 2"/>
          <p:cNvSpPr txBox="1">
            <a:spLocks/>
          </p:cNvSpPr>
          <p:nvPr/>
        </p:nvSpPr>
        <p:spPr>
          <a:xfrm>
            <a:off x="541922" y="1940259"/>
            <a:ext cx="7803792" cy="650476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①브랜드 코드 등록</a:t>
            </a:r>
            <a:endParaRPr lang="en-US" altLang="ko-KR" sz="2000" dirty="0" smtClean="0">
              <a:latin typeface="Rix헤드 M" panose="02020603020101020101" pitchFamily="18" charset="-127"/>
              <a:ea typeface="Rix헤드 M" panose="02020603020101020101" pitchFamily="18" charset="-127"/>
            </a:endParaRPr>
          </a:p>
          <a:p>
            <a:pPr algn="l"/>
            <a:r>
              <a:rPr lang="ko-KR" altLang="en-US" sz="1800" dirty="0" err="1" smtClean="0">
                <a:latin typeface="Rix헤드 M" panose="02020603020101020101" pitchFamily="18" charset="-127"/>
                <a:ea typeface="Rix헤드 M" panose="02020603020101020101" pitchFamily="18" charset="-127"/>
              </a:rPr>
              <a:t>아이파크몰</a:t>
            </a:r>
            <a:r>
              <a:rPr lang="ko-KR" altLang="en-US" sz="18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 담당자 </a:t>
            </a:r>
            <a:r>
              <a:rPr lang="en-US" altLang="ko-KR" sz="18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(</a:t>
            </a:r>
            <a:r>
              <a:rPr lang="ko-KR" altLang="en-US" sz="1800" dirty="0" err="1" smtClean="0">
                <a:latin typeface="Rix헤드 M" panose="02020603020101020101" pitchFamily="18" charset="-127"/>
                <a:ea typeface="Rix헤드 M" panose="02020603020101020101" pitchFamily="18" charset="-127"/>
              </a:rPr>
              <a:t>라종찬</a:t>
            </a:r>
            <a:r>
              <a:rPr lang="ko-KR" altLang="en-US" sz="18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 과장</a:t>
            </a:r>
            <a:r>
              <a:rPr lang="en-US" altLang="ko-KR" sz="18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/</a:t>
            </a:r>
            <a:r>
              <a:rPr lang="ko-KR" altLang="en-US" sz="18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김민 주임</a:t>
            </a:r>
            <a:r>
              <a:rPr lang="en-US" altLang="ko-KR" sz="18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) </a:t>
            </a:r>
            <a:r>
              <a:rPr lang="ko-KR" altLang="en-US" sz="18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자료 전달</a:t>
            </a:r>
            <a:endParaRPr lang="en-US" altLang="ko-KR" sz="1800" dirty="0" smtClean="0">
              <a:latin typeface="Rix헤드 M" panose="02020603020101020101" pitchFamily="18" charset="-127"/>
              <a:ea typeface="Rix헤드 M" panose="02020603020101020101" pitchFamily="18" charset="-127"/>
            </a:endParaRPr>
          </a:p>
          <a:p>
            <a:pPr algn="l"/>
            <a:r>
              <a:rPr lang="en-US" altLang="ko-KR" sz="18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 : </a:t>
            </a:r>
            <a:r>
              <a:rPr lang="ko-KR" altLang="en-US" sz="18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사업자등록증</a:t>
            </a:r>
            <a:r>
              <a:rPr lang="en-US" altLang="ko-KR" sz="18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/</a:t>
            </a:r>
            <a:r>
              <a:rPr lang="ko-KR" altLang="en-US" sz="18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통장사본</a:t>
            </a:r>
            <a:endParaRPr lang="en-US" altLang="ko-KR" sz="1800" dirty="0" smtClean="0">
              <a:latin typeface="Rix헤드 M" panose="02020603020101020101" pitchFamily="18" charset="-127"/>
              <a:ea typeface="Rix헤드 M" panose="02020603020101020101" pitchFamily="18" charset="-127"/>
            </a:endParaRPr>
          </a:p>
          <a:p>
            <a:pPr algn="l"/>
            <a:r>
              <a:rPr lang="ko-KR" altLang="en-US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메일주소 </a:t>
            </a:r>
            <a:r>
              <a:rPr lang="en-US" altLang="ko-KR" sz="16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: rajc@iparkmall.co.kr / mkim@iparkmall.co.kr</a:t>
            </a:r>
          </a:p>
          <a:p>
            <a:pPr algn="l"/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 </a:t>
            </a:r>
            <a:endParaRPr lang="ko-KR" altLang="en-US" sz="2000" dirty="0">
              <a:latin typeface="Rix헤드 M" panose="02020603020101020101" pitchFamily="18" charset="-127"/>
              <a:ea typeface="Rix헤드 M" panose="02020603020101020101" pitchFamily="18" charset="-127"/>
            </a:endParaRPr>
          </a:p>
        </p:txBody>
      </p:sp>
      <p:sp>
        <p:nvSpPr>
          <p:cNvPr id="15" name="부제목 2"/>
          <p:cNvSpPr txBox="1">
            <a:spLocks/>
          </p:cNvSpPr>
          <p:nvPr/>
        </p:nvSpPr>
        <p:spPr>
          <a:xfrm>
            <a:off x="511730" y="7740383"/>
            <a:ext cx="5422150" cy="119079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③ </a:t>
            </a:r>
            <a:r>
              <a:rPr lang="ko-KR" altLang="en-US" sz="2000" dirty="0" err="1" smtClean="0">
                <a:latin typeface="Rix헤드 M" panose="02020603020101020101" pitchFamily="18" charset="-127"/>
                <a:ea typeface="Rix헤드 M" panose="02020603020101020101" pitchFamily="18" charset="-127"/>
              </a:rPr>
              <a:t>트러스빌</a:t>
            </a:r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 가입 </a:t>
            </a:r>
            <a:endParaRPr lang="ko-KR" altLang="en-US" sz="2000" dirty="0">
              <a:latin typeface="Rix헤드 M" panose="02020603020101020101" pitchFamily="18" charset="-127"/>
              <a:ea typeface="Rix헤드 M" panose="02020603020101020101" pitchFamily="18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31586" y="8878538"/>
            <a:ext cx="632641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smtClean="0">
                <a:solidFill>
                  <a:srgbClr val="FF0000"/>
                </a:solidFill>
                <a:latin typeface="Rix헤드 M" panose="02020603020101020101" pitchFamily="18" charset="-127"/>
                <a:ea typeface="Rix헤드 M" panose="02020603020101020101" pitchFamily="18" charset="-127"/>
              </a:rPr>
              <a:t>※ </a:t>
            </a:r>
            <a:r>
              <a:rPr lang="ko-KR" altLang="en-US" sz="1600" dirty="0" err="1" smtClean="0">
                <a:solidFill>
                  <a:srgbClr val="FF0000"/>
                </a:solidFill>
                <a:latin typeface="Rix헤드 M" panose="02020603020101020101" pitchFamily="18" charset="-127"/>
                <a:ea typeface="Rix헤드 M" panose="02020603020101020101" pitchFamily="18" charset="-127"/>
              </a:rPr>
              <a:t>나이스다큐</a:t>
            </a:r>
            <a:r>
              <a:rPr lang="en-US" altLang="ko-KR" sz="1600" dirty="0" smtClean="0">
                <a:solidFill>
                  <a:srgbClr val="FF0000"/>
                </a:solidFill>
                <a:latin typeface="Rix헤드 M" panose="02020603020101020101" pitchFamily="18" charset="-127"/>
                <a:ea typeface="Rix헤드 M" panose="02020603020101020101" pitchFamily="18" charset="-127"/>
              </a:rPr>
              <a:t>/</a:t>
            </a:r>
            <a:r>
              <a:rPr lang="ko-KR" altLang="en-US" sz="1600" dirty="0" err="1" smtClean="0">
                <a:solidFill>
                  <a:srgbClr val="FF0000"/>
                </a:solidFill>
                <a:latin typeface="Rix헤드 M" panose="02020603020101020101" pitchFamily="18" charset="-127"/>
                <a:ea typeface="Rix헤드 M" panose="02020603020101020101" pitchFamily="18" charset="-127"/>
              </a:rPr>
              <a:t>트러스빌</a:t>
            </a:r>
            <a:r>
              <a:rPr lang="ko-KR" altLang="en-US" sz="1600" dirty="0" smtClean="0">
                <a:solidFill>
                  <a:srgbClr val="FF0000"/>
                </a:solidFill>
                <a:latin typeface="Rix헤드 M" panose="02020603020101020101" pitchFamily="18" charset="-127"/>
                <a:ea typeface="Rix헤드 M" panose="02020603020101020101" pitchFamily="18" charset="-127"/>
              </a:rPr>
              <a:t> 가입 관련 별도 </a:t>
            </a:r>
            <a:r>
              <a:rPr lang="ko-KR" altLang="en-US" sz="1600" dirty="0" err="1" smtClean="0">
                <a:solidFill>
                  <a:srgbClr val="FF0000"/>
                </a:solidFill>
                <a:latin typeface="Rix헤드 M" panose="02020603020101020101" pitchFamily="18" charset="-127"/>
                <a:ea typeface="Rix헤드 M" panose="02020603020101020101" pitchFamily="18" charset="-127"/>
              </a:rPr>
              <a:t>유첨</a:t>
            </a:r>
            <a:r>
              <a:rPr lang="ko-KR" altLang="en-US" sz="1600" dirty="0" smtClean="0">
                <a:solidFill>
                  <a:srgbClr val="FF0000"/>
                </a:solidFill>
                <a:latin typeface="Rix헤드 M" panose="02020603020101020101" pitchFamily="18" charset="-127"/>
                <a:ea typeface="Rix헤드 M" panose="02020603020101020101" pitchFamily="18" charset="-127"/>
              </a:rPr>
              <a:t> 매뉴얼 참고 요</a:t>
            </a:r>
            <a:endParaRPr lang="ko-KR" altLang="en-US" sz="1600" dirty="0">
              <a:solidFill>
                <a:srgbClr val="FF0000"/>
              </a:solidFill>
              <a:latin typeface="Rix헤드 M" panose="02020603020101020101" pitchFamily="18" charset="-127"/>
              <a:ea typeface="Rix헤드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8456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부제목 2"/>
          <p:cNvSpPr txBox="1">
            <a:spLocks/>
          </p:cNvSpPr>
          <p:nvPr/>
        </p:nvSpPr>
        <p:spPr>
          <a:xfrm>
            <a:off x="541922" y="290118"/>
            <a:ext cx="5422150" cy="804564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④ 사전 광고 제작</a:t>
            </a:r>
            <a:endParaRPr lang="ko-KR" altLang="en-US" sz="2000" dirty="0">
              <a:latin typeface="Rix헤드 M" panose="02020603020101020101" pitchFamily="18" charset="-127"/>
              <a:ea typeface="Rix헤드 M" panose="02020603020101020101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638" y="950304"/>
            <a:ext cx="5462243" cy="8352415"/>
          </a:xfrm>
          <a:prstGeom prst="rect">
            <a:avLst/>
          </a:prstGeom>
        </p:spPr>
      </p:pic>
      <p:sp>
        <p:nvSpPr>
          <p:cNvPr id="16" name="부제목 2"/>
          <p:cNvSpPr txBox="1">
            <a:spLocks/>
          </p:cNvSpPr>
          <p:nvPr/>
        </p:nvSpPr>
        <p:spPr>
          <a:xfrm>
            <a:off x="3710185" y="8206897"/>
            <a:ext cx="5422150" cy="804564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※ </a:t>
            </a:r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가이드 </a:t>
            </a:r>
            <a:r>
              <a:rPr lang="en-US" altLang="ko-KR" sz="2000" dirty="0" err="1" smtClean="0">
                <a:latin typeface="Rix헤드 M" panose="02020603020101020101" pitchFamily="18" charset="-127"/>
                <a:ea typeface="Rix헤드 M" panose="02020603020101020101" pitchFamily="18" charset="-127"/>
              </a:rPr>
              <a:t>ai</a:t>
            </a:r>
            <a:r>
              <a:rPr lang="en-US" altLang="ko-KR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 </a:t>
            </a:r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파일 별도 전달</a:t>
            </a:r>
            <a:endParaRPr lang="en-US" altLang="ko-KR" sz="2000" dirty="0" smtClean="0">
              <a:latin typeface="Rix헤드 M" panose="02020603020101020101" pitchFamily="18" charset="-127"/>
              <a:ea typeface="Rix헤드 M" panose="02020603020101020101" pitchFamily="18" charset="-127"/>
            </a:endParaRPr>
          </a:p>
          <a:p>
            <a:pPr algn="l"/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오픈 </a:t>
            </a:r>
            <a:r>
              <a:rPr lang="en-US" altLang="ko-KR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2</a:t>
            </a:r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주 전 파일 전달 요</a:t>
            </a:r>
            <a:endParaRPr lang="ko-KR" altLang="en-US" sz="2000" dirty="0">
              <a:latin typeface="Rix헤드 M" panose="02020603020101020101" pitchFamily="18" charset="-127"/>
              <a:ea typeface="Rix헤드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9375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부제목 2"/>
          <p:cNvSpPr txBox="1">
            <a:spLocks/>
          </p:cNvSpPr>
          <p:nvPr/>
        </p:nvSpPr>
        <p:spPr>
          <a:xfrm>
            <a:off x="512893" y="783558"/>
            <a:ext cx="5422150" cy="119079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⑤ </a:t>
            </a:r>
            <a:r>
              <a:rPr lang="ko-KR" altLang="en-US" sz="2000" dirty="0" err="1" smtClean="0">
                <a:latin typeface="Rix헤드 M" panose="02020603020101020101" pitchFamily="18" charset="-127"/>
                <a:ea typeface="Rix헤드 M" panose="02020603020101020101" pitchFamily="18" charset="-127"/>
              </a:rPr>
              <a:t>협력사원</a:t>
            </a:r>
            <a:r>
              <a:rPr lang="en-US" altLang="ko-KR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(</a:t>
            </a:r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매장근무직원</a:t>
            </a:r>
            <a:r>
              <a:rPr lang="en-US" altLang="ko-KR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)</a:t>
            </a:r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 </a:t>
            </a:r>
            <a:r>
              <a:rPr lang="ko-KR" altLang="en-US" sz="2000" dirty="0" err="1" smtClean="0">
                <a:latin typeface="Rix헤드 M" panose="02020603020101020101" pitchFamily="18" charset="-127"/>
                <a:ea typeface="Rix헤드 M" panose="02020603020101020101" pitchFamily="18" charset="-127"/>
              </a:rPr>
              <a:t>파트너스</a:t>
            </a:r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 </a:t>
            </a:r>
            <a:r>
              <a:rPr lang="ko-KR" altLang="en-US" sz="2000" dirty="0" err="1" smtClean="0">
                <a:latin typeface="Rix헤드 M" panose="02020603020101020101" pitchFamily="18" charset="-127"/>
                <a:ea typeface="Rix헤드 M" panose="02020603020101020101" pitchFamily="18" charset="-127"/>
              </a:rPr>
              <a:t>어플</a:t>
            </a:r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 가입</a:t>
            </a:r>
            <a:endParaRPr lang="ko-KR" altLang="en-US" sz="2000" dirty="0">
              <a:latin typeface="Rix헤드 M" panose="02020603020101020101" pitchFamily="18" charset="-127"/>
              <a:ea typeface="Rix헤드 M" panose="02020603020101020101" pitchFamily="18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82" y="1172319"/>
            <a:ext cx="2189200" cy="163060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93" y="2326156"/>
            <a:ext cx="6019800" cy="3351732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4"/>
          <a:srcRect r="6236"/>
          <a:stretch/>
        </p:blipFill>
        <p:spPr>
          <a:xfrm>
            <a:off x="195901" y="5677888"/>
            <a:ext cx="6074270" cy="3250430"/>
          </a:xfrm>
          <a:prstGeom prst="rect">
            <a:avLst/>
          </a:prstGeom>
        </p:spPr>
      </p:pic>
      <p:sp>
        <p:nvSpPr>
          <p:cNvPr id="10" name="부제목 2"/>
          <p:cNvSpPr txBox="1">
            <a:spLocks/>
          </p:cNvSpPr>
          <p:nvPr/>
        </p:nvSpPr>
        <p:spPr>
          <a:xfrm>
            <a:off x="3474234" y="1737373"/>
            <a:ext cx="2933396" cy="319101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4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← </a:t>
            </a:r>
            <a:r>
              <a:rPr lang="ko-KR" altLang="en-US" sz="1400" dirty="0" err="1" smtClean="0">
                <a:latin typeface="Rix헤드 M" panose="02020603020101020101" pitchFamily="18" charset="-127"/>
                <a:ea typeface="Rix헤드 M" panose="02020603020101020101" pitchFamily="18" charset="-127"/>
              </a:rPr>
              <a:t>어플</a:t>
            </a:r>
            <a:r>
              <a:rPr lang="ko-KR" altLang="en-US" sz="14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 다운로드 </a:t>
            </a:r>
            <a:r>
              <a:rPr lang="en-US" altLang="ko-KR" sz="14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QR</a:t>
            </a:r>
            <a:endParaRPr lang="ko-KR" altLang="en-US" sz="1400" dirty="0">
              <a:latin typeface="Rix헤드 M" panose="02020603020101020101" pitchFamily="18" charset="-127"/>
              <a:ea typeface="Rix헤드 M" panose="02020603020101020101" pitchFamily="18" charset="-127"/>
            </a:endParaRPr>
          </a:p>
        </p:txBody>
      </p:sp>
      <p:sp>
        <p:nvSpPr>
          <p:cNvPr id="2" name="부제목 1"/>
          <p:cNvSpPr>
            <a:spLocks noGrp="1"/>
          </p:cNvSpPr>
          <p:nvPr>
            <p:ph type="subTitle" idx="1"/>
          </p:nvPr>
        </p:nvSpPr>
        <p:spPr>
          <a:xfrm>
            <a:off x="828221" y="4636887"/>
            <a:ext cx="5143500" cy="2391656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592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98" y="-27299"/>
            <a:ext cx="6210823" cy="3425866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434429" y="2025266"/>
            <a:ext cx="1296537" cy="55955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ysClr val="windowText" lastClr="000000"/>
                </a:solidFill>
                <a:latin typeface="Rix헤드 M" panose="02020603020101020101" pitchFamily="18" charset="-127"/>
                <a:ea typeface="Rix헤드 M" panose="02020603020101020101" pitchFamily="18" charset="-127"/>
              </a:rPr>
              <a:t>패션 </a:t>
            </a:r>
            <a:r>
              <a:rPr lang="en-US" altLang="ko-KR" dirty="0" smtClean="0">
                <a:solidFill>
                  <a:sysClr val="windowText" lastClr="000000"/>
                </a:solidFill>
                <a:latin typeface="Rix헤드 M" panose="02020603020101020101" pitchFamily="18" charset="-127"/>
                <a:ea typeface="Rix헤드 M" panose="02020603020101020101" pitchFamily="18" charset="-127"/>
              </a:rPr>
              <a:t>2</a:t>
            </a:r>
            <a:r>
              <a:rPr lang="ko-KR" altLang="en-US" dirty="0" smtClean="0">
                <a:solidFill>
                  <a:sysClr val="windowText" lastClr="000000"/>
                </a:solidFill>
                <a:latin typeface="Rix헤드 M" panose="02020603020101020101" pitchFamily="18" charset="-127"/>
                <a:ea typeface="Rix헤드 M" panose="02020603020101020101" pitchFamily="18" charset="-127"/>
              </a:rPr>
              <a:t>팀</a:t>
            </a:r>
            <a:endParaRPr lang="ko-KR" altLang="en-US" dirty="0">
              <a:solidFill>
                <a:sysClr val="windowText" lastClr="000000"/>
              </a:solidFill>
              <a:latin typeface="Rix헤드 M" panose="02020603020101020101" pitchFamily="18" charset="-127"/>
              <a:ea typeface="Rix헤드 M" panose="02020603020101020101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rcRect t="3376"/>
          <a:stretch/>
        </p:blipFill>
        <p:spPr>
          <a:xfrm>
            <a:off x="306042" y="3275461"/>
            <a:ext cx="6272179" cy="333707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4"/>
          <a:srcRect t="3859"/>
          <a:stretch/>
        </p:blipFill>
        <p:spPr>
          <a:xfrm>
            <a:off x="357495" y="6505625"/>
            <a:ext cx="6274058" cy="326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065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부제목 2"/>
          <p:cNvSpPr txBox="1">
            <a:spLocks/>
          </p:cNvSpPr>
          <p:nvPr/>
        </p:nvSpPr>
        <p:spPr>
          <a:xfrm>
            <a:off x="541922" y="530750"/>
            <a:ext cx="5422150" cy="119079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⑥</a:t>
            </a:r>
            <a:r>
              <a:rPr lang="ko-KR" altLang="en-US" sz="2000" dirty="0" err="1" smtClean="0">
                <a:latin typeface="Rix헤드 M" panose="02020603020101020101" pitchFamily="18" charset="-127"/>
                <a:ea typeface="Rix헤드 M" panose="02020603020101020101" pitchFamily="18" charset="-127"/>
              </a:rPr>
              <a:t>협력사원</a:t>
            </a:r>
            <a:r>
              <a:rPr lang="en-US" altLang="ko-KR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(</a:t>
            </a:r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매장근무직원</a:t>
            </a:r>
            <a:r>
              <a:rPr lang="en-US" altLang="ko-KR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)</a:t>
            </a:r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 교육 신청</a:t>
            </a:r>
            <a:endParaRPr lang="ko-KR" altLang="en-US" sz="2000" dirty="0">
              <a:latin typeface="Rix헤드 M" panose="02020603020101020101" pitchFamily="18" charset="-127"/>
              <a:ea typeface="Rix헤드 M" panose="02020603020101020101" pitchFamily="18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90" y="1191360"/>
            <a:ext cx="6127894" cy="338028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189" y="4571643"/>
            <a:ext cx="6222795" cy="325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583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부제목 2"/>
          <p:cNvSpPr txBox="1">
            <a:spLocks/>
          </p:cNvSpPr>
          <p:nvPr/>
        </p:nvSpPr>
        <p:spPr>
          <a:xfrm>
            <a:off x="541922" y="530750"/>
            <a:ext cx="5422150" cy="804564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⑦</a:t>
            </a:r>
            <a:r>
              <a:rPr lang="en-US" altLang="ko-KR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 </a:t>
            </a:r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매장 세팅 작업 관련 </a:t>
            </a:r>
            <a:r>
              <a:rPr lang="en-US" altLang="ko-KR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(</a:t>
            </a:r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신청 프로세스</a:t>
            </a:r>
            <a:r>
              <a:rPr lang="en-US" altLang="ko-KR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)</a:t>
            </a:r>
            <a:endParaRPr lang="ko-KR" altLang="en-US" sz="2000" dirty="0">
              <a:latin typeface="Rix헤드 M" panose="02020603020101020101" pitchFamily="18" charset="-127"/>
              <a:ea typeface="Rix헤드 M" panose="02020603020101020101" pitchFamily="18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41922" y="1335314"/>
            <a:ext cx="58719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 smtClean="0">
                <a:latin typeface="Rix헤드 M" panose="02020603020101020101" pitchFamily="18" charset="-127"/>
                <a:ea typeface="Rix헤드 M" panose="02020603020101020101" pitchFamily="18" charset="-127"/>
              </a:rPr>
              <a:t>파트너스</a:t>
            </a:r>
            <a:r>
              <a:rPr lang="ko-KR" altLang="en-US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 사이트 </a:t>
            </a:r>
            <a:r>
              <a:rPr lang="en-US" altLang="ko-KR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: </a:t>
            </a:r>
            <a:r>
              <a:rPr lang="ko-KR" altLang="en-US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https://pms.iparkmall.co.kr/intro</a:t>
            </a:r>
            <a:endParaRPr lang="ko-KR" altLang="en-US" dirty="0">
              <a:latin typeface="Rix헤드 M" panose="02020603020101020101" pitchFamily="18" charset="-127"/>
              <a:ea typeface="Rix헤드 M" panose="02020603020101020101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20" y="2002349"/>
            <a:ext cx="6542424" cy="3063155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3207657" y="2583543"/>
            <a:ext cx="1219200" cy="2481961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20" y="5363207"/>
            <a:ext cx="2375902" cy="2897624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9326" y="5239656"/>
            <a:ext cx="3909642" cy="4529759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385928" y="7410076"/>
            <a:ext cx="1074882" cy="42923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4237463" y="9476768"/>
            <a:ext cx="509240" cy="42923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1807553" y="8038199"/>
            <a:ext cx="1239213" cy="793567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 flipH="1">
            <a:off x="2427159" y="5065504"/>
            <a:ext cx="1190697" cy="506922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/>
        </p:nvSpPr>
        <p:spPr>
          <a:xfrm>
            <a:off x="5253441" y="9194185"/>
            <a:ext cx="1421262" cy="578329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mtClean="0">
                <a:solidFill>
                  <a:srgbClr val="FF0000"/>
                </a:solidFill>
                <a:latin typeface="Rix헤드 M" panose="02020603020101020101" pitchFamily="18" charset="-127"/>
                <a:ea typeface="Rix헤드 M" panose="02020603020101020101" pitchFamily="18" charset="-127"/>
              </a:rPr>
              <a:t>승인부서</a:t>
            </a:r>
            <a:endParaRPr lang="en-US" altLang="ko-KR" sz="1600" dirty="0" smtClean="0">
              <a:solidFill>
                <a:srgbClr val="FF0000"/>
              </a:solidFill>
              <a:latin typeface="Rix헤드 M" panose="02020603020101020101" pitchFamily="18" charset="-127"/>
              <a:ea typeface="Rix헤드 M" panose="02020603020101020101" pitchFamily="18" charset="-127"/>
            </a:endParaRPr>
          </a:p>
          <a:p>
            <a:pPr algn="ctr"/>
            <a:r>
              <a:rPr lang="ko-KR" altLang="en-US" sz="1600" dirty="0" smtClean="0">
                <a:solidFill>
                  <a:srgbClr val="FF0000"/>
                </a:solidFill>
                <a:latin typeface="Rix헤드 M" panose="02020603020101020101" pitchFamily="18" charset="-127"/>
                <a:ea typeface="Rix헤드 M" panose="02020603020101020101" pitchFamily="18" charset="-127"/>
              </a:rPr>
              <a:t>패션 </a:t>
            </a:r>
            <a:r>
              <a:rPr lang="en-US" altLang="ko-KR" sz="1600" dirty="0" smtClean="0">
                <a:solidFill>
                  <a:srgbClr val="FF0000"/>
                </a:solidFill>
                <a:latin typeface="Rix헤드 M" panose="02020603020101020101" pitchFamily="18" charset="-127"/>
                <a:ea typeface="Rix헤드 M" panose="02020603020101020101" pitchFamily="18" charset="-127"/>
              </a:rPr>
              <a:t>2</a:t>
            </a:r>
            <a:r>
              <a:rPr lang="ko-KR" altLang="en-US" sz="1600" dirty="0">
                <a:solidFill>
                  <a:srgbClr val="FF0000"/>
                </a:solidFill>
                <a:latin typeface="Rix헤드 M" panose="02020603020101020101" pitchFamily="18" charset="-127"/>
                <a:ea typeface="Rix헤드 M" panose="02020603020101020101" pitchFamily="18" charset="-127"/>
              </a:rPr>
              <a:t>팀</a:t>
            </a:r>
          </a:p>
        </p:txBody>
      </p:sp>
      <p:cxnSp>
        <p:nvCxnSpPr>
          <p:cNvPr id="20" name="직선 화살표 연결선 19"/>
          <p:cNvCxnSpPr/>
          <p:nvPr/>
        </p:nvCxnSpPr>
        <p:spPr>
          <a:xfrm flipV="1">
            <a:off x="4873407" y="9362666"/>
            <a:ext cx="519443" cy="255825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909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부제목 2"/>
          <p:cNvSpPr txBox="1">
            <a:spLocks/>
          </p:cNvSpPr>
          <p:nvPr/>
        </p:nvSpPr>
        <p:spPr>
          <a:xfrm>
            <a:off x="616495" y="2358189"/>
            <a:ext cx="5422150" cy="2533865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⑧ 매출 확인 사이트 </a:t>
            </a:r>
            <a:r>
              <a:rPr lang="en-US" altLang="ko-KR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(EDI)</a:t>
            </a:r>
          </a:p>
          <a:p>
            <a:pPr algn="l"/>
            <a:endParaRPr lang="en-US" altLang="ko-KR" sz="2000" dirty="0">
              <a:latin typeface="Rix헤드 M" panose="02020603020101020101" pitchFamily="18" charset="-127"/>
              <a:ea typeface="Rix헤드 M" panose="02020603020101020101" pitchFamily="18" charset="-127"/>
            </a:endParaRPr>
          </a:p>
          <a:p>
            <a:pPr algn="l"/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주소 </a:t>
            </a:r>
            <a:r>
              <a:rPr lang="en-US" altLang="ko-KR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: </a:t>
            </a:r>
            <a:r>
              <a:rPr lang="en-US" altLang="ko-KR" sz="2000" dirty="0" smtClean="0">
                <a:latin typeface="Rix헤드 M" panose="02020603020101020101" pitchFamily="18" charset="-127"/>
                <a:ea typeface="Rix헤드 M" panose="02020603020101020101" pitchFamily="18" charset="-127"/>
                <a:hlinkClick r:id="rId2"/>
              </a:rPr>
              <a:t>https://pms.iparkmall.co.kr/login</a:t>
            </a:r>
            <a:endParaRPr lang="en-US" altLang="ko-KR" sz="2000" dirty="0" smtClean="0">
              <a:latin typeface="Rix헤드 M" panose="02020603020101020101" pitchFamily="18" charset="-127"/>
              <a:ea typeface="Rix헤드 M" panose="02020603020101020101" pitchFamily="18" charset="-127"/>
            </a:endParaRPr>
          </a:p>
          <a:p>
            <a:pPr algn="l"/>
            <a:endParaRPr lang="en-US" altLang="ko-KR" sz="2000" dirty="0">
              <a:latin typeface="Rix헤드 M" panose="02020603020101020101" pitchFamily="18" charset="-127"/>
              <a:ea typeface="Rix헤드 M" panose="02020603020101020101" pitchFamily="18" charset="-127"/>
            </a:endParaRPr>
          </a:p>
          <a:p>
            <a:pPr algn="l"/>
            <a:r>
              <a:rPr lang="en-US" altLang="ko-KR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ID/PW : </a:t>
            </a:r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브랜드 코드 </a:t>
            </a:r>
            <a:r>
              <a:rPr lang="en-US" altLang="ko-KR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6</a:t>
            </a:r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자리 </a:t>
            </a:r>
            <a:r>
              <a:rPr lang="en-US" altLang="ko-KR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(</a:t>
            </a:r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개설 후 전달</a:t>
            </a:r>
            <a:r>
              <a:rPr lang="en-US" altLang="ko-KR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)</a:t>
            </a:r>
          </a:p>
          <a:p>
            <a:pPr algn="l"/>
            <a:endParaRPr lang="en-US" altLang="ko-KR" sz="2000" dirty="0" smtClean="0">
              <a:latin typeface="Rix헤드 M" panose="02020603020101020101" pitchFamily="18" charset="-127"/>
              <a:ea typeface="Rix헤드 M" panose="02020603020101020101" pitchFamily="18" charset="-127"/>
            </a:endParaRPr>
          </a:p>
          <a:p>
            <a:pPr algn="l"/>
            <a:endParaRPr lang="ko-KR" altLang="en-US" sz="2000" dirty="0">
              <a:latin typeface="Rix헤드 M" panose="02020603020101020101" pitchFamily="18" charset="-127"/>
              <a:ea typeface="Rix헤드 M" panose="02020603020101020101" pitchFamily="18" charset="-127"/>
            </a:endParaRPr>
          </a:p>
        </p:txBody>
      </p:sp>
      <p:sp>
        <p:nvSpPr>
          <p:cNvPr id="5" name="부제목 2"/>
          <p:cNvSpPr txBox="1">
            <a:spLocks/>
          </p:cNvSpPr>
          <p:nvPr/>
        </p:nvSpPr>
        <p:spPr>
          <a:xfrm>
            <a:off x="395618" y="818539"/>
            <a:ext cx="2931952" cy="319101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- </a:t>
            </a:r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매장 오픈 후</a:t>
            </a:r>
            <a:endParaRPr lang="ko-KR" altLang="en-US" sz="2000" dirty="0">
              <a:latin typeface="Rix헤드 M" panose="02020603020101020101" pitchFamily="18" charset="-127"/>
              <a:ea typeface="Rix헤드 M" panose="02020603020101020101" pitchFamily="18" charset="-127"/>
            </a:endParaRPr>
          </a:p>
        </p:txBody>
      </p:sp>
      <p:sp>
        <p:nvSpPr>
          <p:cNvPr id="6" name="부제목 2"/>
          <p:cNvSpPr txBox="1">
            <a:spLocks/>
          </p:cNvSpPr>
          <p:nvPr/>
        </p:nvSpPr>
        <p:spPr>
          <a:xfrm>
            <a:off x="616495" y="5164770"/>
            <a:ext cx="5422150" cy="2533865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⑨ 인터넷</a:t>
            </a:r>
            <a:r>
              <a:rPr lang="en-US" altLang="ko-KR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/</a:t>
            </a:r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전화 신청</a:t>
            </a:r>
            <a:r>
              <a:rPr lang="en-US" altLang="ko-KR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(</a:t>
            </a:r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필요시</a:t>
            </a:r>
            <a:r>
              <a:rPr lang="en-US" altLang="ko-KR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)</a:t>
            </a:r>
          </a:p>
          <a:p>
            <a:pPr algn="l"/>
            <a:endParaRPr lang="en-US" altLang="ko-KR" sz="2000" dirty="0">
              <a:latin typeface="Rix헤드 M" panose="02020603020101020101" pitchFamily="18" charset="-127"/>
              <a:ea typeface="Rix헤드 M" panose="02020603020101020101" pitchFamily="18" charset="-127"/>
            </a:endParaRPr>
          </a:p>
          <a:p>
            <a:pPr algn="l"/>
            <a:r>
              <a:rPr lang="en-US" altLang="ko-KR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02-2012-2200 (</a:t>
            </a:r>
            <a:r>
              <a:rPr lang="ko-KR" altLang="en-US" sz="2000" dirty="0" err="1" smtClean="0">
                <a:latin typeface="Rix헤드 M" panose="02020603020101020101" pitchFamily="18" charset="-127"/>
                <a:ea typeface="Rix헤드 M" panose="02020603020101020101" pitchFamily="18" charset="-127"/>
              </a:rPr>
              <a:t>아이파크몰</a:t>
            </a:r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 </a:t>
            </a:r>
            <a:r>
              <a:rPr lang="en-US" altLang="ko-KR" sz="2000" dirty="0" err="1" smtClean="0">
                <a:latin typeface="Rix헤드 M" panose="02020603020101020101" pitchFamily="18" charset="-127"/>
                <a:ea typeface="Rix헤드 M" panose="02020603020101020101" pitchFamily="18" charset="-127"/>
              </a:rPr>
              <a:t>kt</a:t>
            </a:r>
            <a:r>
              <a:rPr lang="en-US" altLang="ko-KR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, </a:t>
            </a:r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매장 개별 신청</a:t>
            </a:r>
            <a:r>
              <a:rPr lang="en-US" altLang="ko-KR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)</a:t>
            </a:r>
          </a:p>
          <a:p>
            <a:pPr algn="l"/>
            <a:endParaRPr lang="en-US" altLang="ko-KR" sz="2000" dirty="0">
              <a:latin typeface="Rix헤드 M" panose="02020603020101020101" pitchFamily="18" charset="-127"/>
              <a:ea typeface="Rix헤드 M" panose="02020603020101020101" pitchFamily="18" charset="-127"/>
            </a:endParaRPr>
          </a:p>
          <a:p>
            <a:pPr algn="l"/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매장 전화번호 </a:t>
            </a:r>
            <a:r>
              <a:rPr lang="en-US" altLang="ko-KR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02-2012-XXXX </a:t>
            </a:r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로 신청 必</a:t>
            </a:r>
            <a:endParaRPr lang="en-US" altLang="ko-KR" sz="2000" dirty="0" smtClean="0">
              <a:latin typeface="Rix헤드 M" panose="02020603020101020101" pitchFamily="18" charset="-127"/>
              <a:ea typeface="Rix헤드 M" panose="02020603020101020101" pitchFamily="18" charset="-127"/>
            </a:endParaRPr>
          </a:p>
          <a:p>
            <a:pPr algn="l"/>
            <a:endParaRPr lang="ko-KR" altLang="en-US" sz="2000" dirty="0">
              <a:latin typeface="Rix헤드 M" panose="02020603020101020101" pitchFamily="18" charset="-127"/>
              <a:ea typeface="Rix헤드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7781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부제목 2"/>
          <p:cNvSpPr txBox="1">
            <a:spLocks/>
          </p:cNvSpPr>
          <p:nvPr/>
        </p:nvSpPr>
        <p:spPr>
          <a:xfrm>
            <a:off x="616495" y="-545911"/>
            <a:ext cx="5422150" cy="2533865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⑩ 당사 </a:t>
            </a:r>
            <a:r>
              <a:rPr lang="en-US" altLang="ko-KR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POS </a:t>
            </a:r>
            <a:r>
              <a:rPr lang="ko-KR" altLang="en-US" sz="2000" dirty="0" smtClean="0">
                <a:latin typeface="Rix헤드 M" panose="02020603020101020101" pitchFamily="18" charset="-127"/>
                <a:ea typeface="Rix헤드 M" panose="02020603020101020101" pitchFamily="18" charset="-127"/>
              </a:rPr>
              <a:t>매뉴얼</a:t>
            </a:r>
            <a:endParaRPr lang="en-US" altLang="ko-KR" sz="2000" dirty="0" smtClean="0">
              <a:latin typeface="Rix헤드 M" panose="02020603020101020101" pitchFamily="18" charset="-127"/>
              <a:ea typeface="Rix헤드 M" panose="02020603020101020101" pitchFamily="18" charset="-127"/>
            </a:endParaRPr>
          </a:p>
          <a:p>
            <a:pPr algn="l"/>
            <a:endParaRPr lang="ko-KR" altLang="en-US" sz="2000" dirty="0">
              <a:latin typeface="Rix헤드 M" panose="02020603020101020101" pitchFamily="18" charset="-127"/>
              <a:ea typeface="Rix헤드 M" panose="02020603020101020101" pitchFamily="18" charset="-127"/>
            </a:endParaRPr>
          </a:p>
        </p:txBody>
      </p:sp>
      <p:sp>
        <p:nvSpPr>
          <p:cNvPr id="6" name="부제목 2"/>
          <p:cNvSpPr txBox="1">
            <a:spLocks/>
          </p:cNvSpPr>
          <p:nvPr/>
        </p:nvSpPr>
        <p:spPr>
          <a:xfrm>
            <a:off x="616495" y="5164770"/>
            <a:ext cx="5422150" cy="2533865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2000" dirty="0">
              <a:latin typeface="Rix헤드 M" panose="02020603020101020101" pitchFamily="18" charset="-127"/>
              <a:ea typeface="Rix헤드 M" panose="02020603020101020101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95" y="961653"/>
            <a:ext cx="5784305" cy="872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555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35" y="946484"/>
            <a:ext cx="6303220" cy="814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674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</TotalTime>
  <Words>220</Words>
  <Application>Microsoft Office PowerPoint</Application>
  <PresentationFormat>A4 용지(210x297mm)</PresentationFormat>
  <Paragraphs>52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Rix헤드 M</vt:lpstr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IPARK</dc:creator>
  <cp:lastModifiedBy>IPARK</cp:lastModifiedBy>
  <cp:revision>8</cp:revision>
  <dcterms:created xsi:type="dcterms:W3CDTF">2025-08-05T05:33:35Z</dcterms:created>
  <dcterms:modified xsi:type="dcterms:W3CDTF">2025-08-05T06:25:25Z</dcterms:modified>
</cp:coreProperties>
</file>